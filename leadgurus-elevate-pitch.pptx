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01 · COVER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FOR SMALL &amp; MEDIUM SOUTH AFRICAN BROKERAGES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800000"/>
            <a:ext cx="93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500">
                <a:solidFill>
                  <a:srgbClr val="C09A78"/>
                </a:solidFill>
                <a:latin typeface="Calibri"/>
              </a:rPr>
              <a:t>PITCH DECK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160000"/>
            <a:ext cx="9360000" cy="2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0" i="0">
                <a:solidFill>
                  <a:srgbClr val="F2EEE7"/>
                </a:solidFill>
                <a:latin typeface="Georgia"/>
              </a:rPr>
              <a:t>Elevate your</a:t>
            </a:r>
          </a:p>
          <a:p>
            <a:pPr algn="l">
              <a:lnSpc>
                <a:spcPct val="100000"/>
              </a:lnSpc>
            </a:pPr>
            <a:r>
              <a:rPr sz="6400" b="0" i="1">
                <a:solidFill>
                  <a:srgbClr val="C09A78"/>
                </a:solidFill>
                <a:latin typeface="Georgia"/>
              </a:rPr>
              <a:t>brokerage.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4968000"/>
            <a:ext cx="864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8C0CC"/>
                </a:solidFill>
                <a:latin typeface="Calibri"/>
              </a:rPr>
              <a:t>Four packages. One growth path. The complete back office for the brokerage that's too big for a side hustle and too small for an enterprise rollout.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6120000"/>
            <a:ext cx="86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C09A78"/>
                </a:solidFill>
                <a:latin typeface="Calibri"/>
              </a:rPr>
              <a:t>SILVER</a:t>
            </a:r>
            <a:r>
              <a:rPr sz="900" b="0" i="0" spc="200">
                <a:solidFill>
                  <a:srgbClr val="8593A4"/>
                </a:solidFill>
                <a:latin typeface="Calibri"/>
              </a:rPr>
              <a:t> · R6 999    </a:t>
            </a:r>
            <a:r>
              <a:rPr sz="900" b="1" i="0" spc="250">
                <a:solidFill>
                  <a:srgbClr val="C09A78"/>
                </a:solidFill>
                <a:latin typeface="Calibri"/>
              </a:rPr>
              <a:t>GOLD ★</a:t>
            </a:r>
            <a:r>
              <a:rPr sz="900" b="0" i="0" spc="200">
                <a:solidFill>
                  <a:srgbClr val="8593A4"/>
                </a:solidFill>
                <a:latin typeface="Calibri"/>
              </a:rPr>
              <a:t> · R9 999    </a:t>
            </a:r>
            <a:r>
              <a:rPr sz="900" b="1" i="0" spc="250">
                <a:solidFill>
                  <a:srgbClr val="C09A78"/>
                </a:solidFill>
                <a:latin typeface="Calibri"/>
              </a:rPr>
              <a:t>DIAMOND</a:t>
            </a:r>
            <a:r>
              <a:rPr sz="900" b="0" i="0" spc="200">
                <a:solidFill>
                  <a:srgbClr val="8593A4"/>
                </a:solidFill>
                <a:latin typeface="Calibri"/>
              </a:rPr>
              <a:t> · R13 999    </a:t>
            </a:r>
            <a:r>
              <a:rPr sz="900" b="1" i="0" spc="250">
                <a:solidFill>
                  <a:srgbClr val="C09A78"/>
                </a:solidFill>
                <a:latin typeface="Calibri"/>
              </a:rPr>
              <a:t>PLATINUM</a:t>
            </a:r>
            <a:r>
              <a:rPr sz="900" b="0" i="0" spc="200">
                <a:solidFill>
                  <a:srgbClr val="8593A4"/>
                </a:solidFill>
                <a:latin typeface="Calibri"/>
              </a:rPr>
              <a:t> · R19 999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02 · AUDIENCE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AUDIENCE · 02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WHO IT'S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Built for the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2–20 agent</a:t>
            </a:r>
            <a:r>
              <a:rPr sz="2800" b="0" i="0">
                <a:solidFill>
                  <a:srgbClr val="F2EEE7"/>
                </a:solidFill>
                <a:latin typeface="Georgia"/>
              </a:rPr>
              <a:t> brokerage.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520000"/>
            <a:ext cx="864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B8C0CC"/>
                </a:solidFill>
                <a:latin typeface="Calibri"/>
              </a:rPr>
              <a:t>If you're scaling from a one-broker show into a real operation — doing IT, marketing, compliance and recruitment yourself — Elevate replaces six suppliers with one subscription.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3600000"/>
            <a:ext cx="43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60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F2EEE7"/>
                </a:solidFill>
                <a:latin typeface="Calibri"/>
              </a:rPr>
              <a:t>Independent brokers and </a:t>
            </a:r>
            <a:r>
              <a:rPr sz="1150" b="1" i="0">
                <a:solidFill>
                  <a:srgbClr val="D4B89C"/>
                </a:solidFill>
                <a:latin typeface="Calibri"/>
              </a:rPr>
              <a:t>2–20 agent</a:t>
            </a:r>
            <a:r>
              <a:rPr sz="1150" b="0" i="0">
                <a:solidFill>
                  <a:srgbClr val="F2EEE7"/>
                </a:solidFill>
                <a:latin typeface="Calibri"/>
              </a:rPr>
              <a:t> brokerages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8000" y="3960000"/>
            <a:ext cx="511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8000" y="4104000"/>
            <a:ext cx="43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104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F2EEE7"/>
                </a:solidFill>
                <a:latin typeface="Calibri"/>
              </a:rPr>
              <a:t>FSPs that need to </a:t>
            </a:r>
            <a:r>
              <a:rPr sz="1150" b="1" i="0">
                <a:solidFill>
                  <a:srgbClr val="D4B89C"/>
                </a:solidFill>
                <a:latin typeface="Calibri"/>
              </a:rPr>
              <a:t>look and operate professionally — fast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8000" y="4464000"/>
            <a:ext cx="511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8000" y="4608000"/>
            <a:ext cx="43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0" y="4608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F2EEE7"/>
                </a:solidFill>
                <a:latin typeface="Calibri"/>
              </a:rPr>
              <a:t>Owners juggling everything: dialler, data, hiring, the website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8000" y="4968000"/>
            <a:ext cx="511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8000" y="5112000"/>
            <a:ext cx="43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5112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F2EEE7"/>
                </a:solidFill>
                <a:latin typeface="Calibri"/>
              </a:rPr>
              <a:t>Anyone tired of personal Gmail and a Facebook page they call a website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8000" y="5472000"/>
            <a:ext cx="511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300000" y="3420000"/>
            <a:ext cx="3672000" cy="2700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2000" y="3672000"/>
            <a:ext cx="108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C09A78"/>
                </a:solidFill>
                <a:latin typeface="Georgia"/>
              </a:rPr>
              <a:t>2–20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0000" y="3780000"/>
            <a:ext cx="208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Agents per brokerage in our sweet spot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2000" y="4464000"/>
            <a:ext cx="108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C09A78"/>
                </a:solidFill>
                <a:latin typeface="Georgia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0000" y="4572000"/>
            <a:ext cx="208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Days from sign-up to operational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2000" y="5256000"/>
            <a:ext cx="108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C09A78"/>
                </a:solidFill>
                <a:latin typeface="Georgia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40000" y="5364000"/>
            <a:ext cx="208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Invoice instead of six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03 · PROPOSITION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PROPOSITION · 03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THE PROPOSITION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One subscription.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The whole back office.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520000"/>
            <a:ext cx="86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B8C0CC"/>
                </a:solidFill>
                <a:latin typeface="Calibri"/>
              </a:rPr>
              <a:t>Every Elevate package bundles six things that normally come from six different vendors — under one contract, with one support 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8000" y="3600000"/>
            <a:ext cx="3024000" cy="1584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000" y="3744000"/>
            <a:ext cx="7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000" y="3960000"/>
            <a:ext cx="259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2EEE7"/>
                </a:solidFill>
                <a:latin typeface="Calibri"/>
              </a:rPr>
              <a:t>Leads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000" y="4284000"/>
            <a:ext cx="2592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Compliant consumer and director records, delivered monthly into your CRM.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16000" y="3600000"/>
            <a:ext cx="3024000" cy="1584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32000" y="3744000"/>
            <a:ext cx="7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2000" y="3960000"/>
            <a:ext cx="259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2EEE7"/>
                </a:solidFill>
                <a:latin typeface="Calibri"/>
              </a:rPr>
              <a:t>Airtime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2000" y="4284000"/>
            <a:ext cx="2592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Per-minute business rates from R0.28c — no contract lock-in on your numbers.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84000" y="3600000"/>
            <a:ext cx="3024000" cy="1584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0000" y="3744000"/>
            <a:ext cx="7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iii.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0" y="3960000"/>
            <a:ext cx="259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2EEE7"/>
                </a:solidFill>
                <a:latin typeface="Calibri"/>
              </a:rPr>
              <a:t>Telephony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0000" y="4284000"/>
            <a:ext cx="2592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VoIP landlines plus a business cell number — call recording included.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8000" y="5328000"/>
            <a:ext cx="3024000" cy="1584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000" y="5472000"/>
            <a:ext cx="7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iv.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000" y="5688000"/>
            <a:ext cx="259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2EEE7"/>
                </a:solidFill>
                <a:latin typeface="Calibri"/>
              </a:rPr>
              <a:t>Web presence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000" y="6012000"/>
            <a:ext cx="2592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Site, branded email, Microsoft 365 licences and organic social.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6000" y="5328000"/>
            <a:ext cx="3024000" cy="1584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32000" y="5472000"/>
            <a:ext cx="7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v.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2000" y="5688000"/>
            <a:ext cx="259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2EEE7"/>
                </a:solidFill>
                <a:latin typeface="Calibri"/>
              </a:rPr>
              <a:t>Brand assets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2000" y="6012000"/>
            <a:ext cx="2592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Digital business card and a polished company profile PDF.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84000" y="5328000"/>
            <a:ext cx="3024000" cy="1584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00000" y="5472000"/>
            <a:ext cx="7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09A78"/>
                </a:solidFill>
                <a:latin typeface="Georgia"/>
              </a:rPr>
              <a:t>vi.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00000" y="5688000"/>
            <a:ext cx="2592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2EEE7"/>
                </a:solidFill>
                <a:latin typeface="Calibri"/>
              </a:rPr>
              <a:t>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0000" y="6012000"/>
            <a:ext cx="2592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Named SLA, response time in writing, real humans on the 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04 · THE PACKAGES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THE PACKAGES · 04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THE PACKAGES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Four tiers.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One per growth stage.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520000"/>
            <a:ext cx="86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B8C0CC"/>
                </a:solidFill>
                <a:latin typeface="Calibri"/>
              </a:rPr>
              <a:t>Start where you are. Upgrade when the team grows. No long-term lock-in.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8000" y="3240000"/>
            <a:ext cx="2232000" cy="3456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000" y="3420000"/>
            <a:ext cx="187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2EEE7"/>
                </a:solidFill>
                <a:latin typeface="Georgia"/>
              </a:rPr>
              <a:t>Silver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00" y="3924000"/>
            <a:ext cx="187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2EEE7"/>
                </a:solidFill>
                <a:latin typeface="Calibri"/>
              </a:rPr>
              <a:t>R6 999</a:t>
            </a:r>
            <a:r>
              <a:rPr sz="800" b="0" i="0">
                <a:solidFill>
                  <a:srgbClr val="8593A4"/>
                </a:solidFill>
                <a:latin typeface="Calibri"/>
              </a:rPr>
              <a:t> 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00" y="4320000"/>
            <a:ext cx="187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50">
                <a:solidFill>
                  <a:srgbClr val="8593A4"/>
                </a:solidFill>
                <a:latin typeface="Calibri"/>
              </a:rPr>
              <a:t>SOLO · JUST OPENED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8000" y="4572000"/>
            <a:ext cx="1872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8000" y="47340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72000" y="46800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500 records / month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49788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72000" y="49248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R0.35c / min airtime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8000" y="52236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72000" y="51696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1–3 page template site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8000" y="54684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72000" y="54144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1 landline · 1 cell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8000" y="57132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72000" y="56592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5 mailboxes · MS 365 ×1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8000" y="59580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72000" y="59040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4 social posts / month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8000" y="62028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72000" y="61488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Same-day support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88000" y="3240000"/>
            <a:ext cx="2232000" cy="3456000"/>
          </a:xfrm>
          <a:prstGeom prst="rect">
            <a:avLst/>
          </a:prstGeom>
          <a:solidFill>
            <a:srgbClr val="FAF7F2"/>
          </a:solidFill>
          <a:ln w="6350">
            <a:solidFill>
              <a:srgbClr val="C0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56000" y="3150000"/>
            <a:ext cx="1296000" cy="180000"/>
          </a:xfrm>
          <a:prstGeom prst="rect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56000" y="31500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 spc="200">
                <a:solidFill>
                  <a:srgbClr val="FAF7F2"/>
                </a:solidFill>
                <a:latin typeface="Calibri"/>
              </a:rPr>
              <a:t>★ RECOMMENDED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68000" y="3528000"/>
            <a:ext cx="187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A1828"/>
                </a:solidFill>
                <a:latin typeface="Georgia"/>
              </a:rPr>
              <a:t>Gold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8000" y="3924000"/>
            <a:ext cx="187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A1828"/>
                </a:solidFill>
                <a:latin typeface="Calibri"/>
              </a:rPr>
              <a:t>R9 999</a:t>
            </a:r>
            <a:r>
              <a:rPr sz="800" b="0" i="0">
                <a:solidFill>
                  <a:srgbClr val="4A5868"/>
                </a:solidFill>
                <a:latin typeface="Calibri"/>
              </a:rPr>
              <a:t> /month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68000" y="4320000"/>
            <a:ext cx="187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50">
                <a:solidFill>
                  <a:srgbClr val="4A5868"/>
                </a:solidFill>
                <a:latin typeface="Calibri"/>
              </a:rPr>
              <a:t>2–5 AGENTS · GROWING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168000" y="4572000"/>
            <a:ext cx="1872000" cy="0"/>
          </a:xfrm>
          <a:prstGeom prst="line">
            <a:avLst/>
          </a:prstGeom>
          <a:ln w="635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168000" y="4734000"/>
            <a:ext cx="90000" cy="0"/>
          </a:xfrm>
          <a:prstGeom prst="line">
            <a:avLst/>
          </a:prstGeom>
          <a:ln w="12700">
            <a:solidFill>
              <a:srgbClr val="8B6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312000" y="46800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0A1828"/>
                </a:solidFill>
                <a:latin typeface="Calibri"/>
              </a:rPr>
              <a:t>1 000 records / month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168000" y="4978800"/>
            <a:ext cx="90000" cy="0"/>
          </a:xfrm>
          <a:prstGeom prst="line">
            <a:avLst/>
          </a:prstGeom>
          <a:ln w="12700">
            <a:solidFill>
              <a:srgbClr val="8B6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312000" y="49248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0A1828"/>
                </a:solidFill>
                <a:latin typeface="Calibri"/>
              </a:rPr>
              <a:t>R0.32c / min airtime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168000" y="5223600"/>
            <a:ext cx="90000" cy="0"/>
          </a:xfrm>
          <a:prstGeom prst="line">
            <a:avLst/>
          </a:prstGeom>
          <a:ln w="12700">
            <a:solidFill>
              <a:srgbClr val="8B6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312000" y="51696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0A1828"/>
                </a:solidFill>
                <a:latin typeface="Calibri"/>
              </a:rPr>
              <a:t>3–5 page template site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168000" y="5468400"/>
            <a:ext cx="90000" cy="0"/>
          </a:xfrm>
          <a:prstGeom prst="line">
            <a:avLst/>
          </a:prstGeom>
          <a:ln w="12700">
            <a:solidFill>
              <a:srgbClr val="8B6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312000" y="54144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0A1828"/>
                </a:solidFill>
                <a:latin typeface="Calibri"/>
              </a:rPr>
              <a:t>1 landline · 1 cell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168000" y="5713200"/>
            <a:ext cx="90000" cy="0"/>
          </a:xfrm>
          <a:prstGeom prst="line">
            <a:avLst/>
          </a:prstGeom>
          <a:ln w="12700">
            <a:solidFill>
              <a:srgbClr val="8B6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312000" y="56592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0A1828"/>
                </a:solidFill>
                <a:latin typeface="Calibri"/>
              </a:rPr>
              <a:t>10 mailboxes · MS 365 ×2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168000" y="5958000"/>
            <a:ext cx="90000" cy="0"/>
          </a:xfrm>
          <a:prstGeom prst="line">
            <a:avLst/>
          </a:prstGeom>
          <a:ln w="12700">
            <a:solidFill>
              <a:srgbClr val="8B6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312000" y="59040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0A1828"/>
                </a:solidFill>
                <a:latin typeface="Calibri"/>
              </a:rPr>
              <a:t>8 social posts / month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168000" y="6202800"/>
            <a:ext cx="90000" cy="0"/>
          </a:xfrm>
          <a:prstGeom prst="line">
            <a:avLst/>
          </a:prstGeom>
          <a:ln w="12700">
            <a:solidFill>
              <a:srgbClr val="8B6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3312000" y="61488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0A1828"/>
                </a:solidFill>
                <a:latin typeface="Calibri"/>
              </a:rPr>
              <a:t>4-hour support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28000" y="3240000"/>
            <a:ext cx="2232000" cy="3456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08000" y="3420000"/>
            <a:ext cx="187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2EEE7"/>
                </a:solidFill>
                <a:latin typeface="Georgia"/>
              </a:rPr>
              <a:t>Diamond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08000" y="3924000"/>
            <a:ext cx="187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2EEE7"/>
                </a:solidFill>
                <a:latin typeface="Calibri"/>
              </a:rPr>
              <a:t>R13 999</a:t>
            </a:r>
            <a:r>
              <a:rPr sz="800" b="0" i="0">
                <a:solidFill>
                  <a:srgbClr val="8593A4"/>
                </a:solidFill>
                <a:latin typeface="Calibri"/>
              </a:rPr>
              <a:t> /month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08000" y="4320000"/>
            <a:ext cx="187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50">
                <a:solidFill>
                  <a:srgbClr val="8593A4"/>
                </a:solidFill>
                <a:latin typeface="Calibri"/>
              </a:rPr>
              <a:t>5–10 AGENTS · ESTABLISHED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508000" y="4572000"/>
            <a:ext cx="1872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508000" y="47340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652000" y="46800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1 000 records / month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508000" y="49788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652000" y="49248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R0.30c / min airtime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508000" y="52236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652000" y="51696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5–6 page custom site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508000" y="54684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652000" y="54144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3 landlines · 1 cell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508000" y="57132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652000" y="56592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10 mailboxes · MS 365 ×5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508000" y="59580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52000" y="59040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10 social posts / month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508000" y="62028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652000" y="61488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2-hour support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668000" y="3240000"/>
            <a:ext cx="2232000" cy="3456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48000" y="3420000"/>
            <a:ext cx="187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2EEE7"/>
                </a:solidFill>
                <a:latin typeface="Georgia"/>
              </a:rPr>
              <a:t>Platinum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48000" y="3924000"/>
            <a:ext cx="187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2EEE7"/>
                </a:solidFill>
                <a:latin typeface="Calibri"/>
              </a:rPr>
              <a:t>R19 999</a:t>
            </a:r>
            <a:r>
              <a:rPr sz="800" b="0" i="0">
                <a:solidFill>
                  <a:srgbClr val="8593A4"/>
                </a:solidFill>
                <a:latin typeface="Calibri"/>
              </a:rPr>
              <a:t> /month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48000" y="4320000"/>
            <a:ext cx="187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50">
                <a:solidFill>
                  <a:srgbClr val="8593A4"/>
                </a:solidFill>
                <a:latin typeface="Calibri"/>
              </a:rPr>
              <a:t>10+ AGENTS · B2B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848000" y="4572000"/>
            <a:ext cx="1872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7848000" y="47340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992000" y="46800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500 director records / mo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848000" y="49788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7992000" y="49248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R0.28c / min airtime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848000" y="52236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992000" y="51696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5–7 page / e-commerce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7848000" y="54684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7992000" y="54144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3 landlines · 1 cell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848000" y="57132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992000" y="56592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10–20 mailboxes · MS 365 ×10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848000" y="59580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992000" y="59040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10 social posts / month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7848000" y="6202800"/>
            <a:ext cx="90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992000" y="6148800"/>
            <a:ext cx="17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2EEE7"/>
                </a:solidFill>
                <a:latin typeface="Calibri"/>
              </a:rPr>
              <a:t>2-hour VIP support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05 · SILVER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SILVER · 05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SILVER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620000"/>
            <a:ext cx="360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F2EEE7"/>
                </a:solidFill>
                <a:latin typeface="Georgia"/>
              </a:rPr>
              <a:t>Silver.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268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800" b="0" i="0">
                <a:solidFill>
                  <a:srgbClr val="C09A78"/>
                </a:solidFill>
                <a:latin typeface="Georgia"/>
              </a:rPr>
              <a:t>R6 999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3096000"/>
            <a:ext cx="2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250">
                <a:solidFill>
                  <a:srgbClr val="B8C0CC"/>
                </a:solidFill>
                <a:latin typeface="Calibri"/>
              </a:rPr>
              <a:t>PER MONTH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" y="3492000"/>
            <a:ext cx="34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D4B89C"/>
                </a:solidFill>
                <a:latin typeface="Georgia"/>
              </a:rPr>
              <a:t>"Look like a real business by Monday."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8000" y="5940000"/>
            <a:ext cx="3420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8000" y="6048000"/>
            <a:ext cx="34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 i="0">
                <a:solidFill>
                  <a:srgbClr val="C09A78"/>
                </a:solidFill>
                <a:latin typeface="Calibri"/>
              </a:rPr>
              <a:t>Best for: </a:t>
            </a:r>
            <a:r>
              <a:rPr sz="1000" b="0" i="0">
                <a:solidFill>
                  <a:srgbClr val="B8C0CC"/>
                </a:solidFill>
                <a:latin typeface="Calibri"/>
              </a:rPr>
              <a:t>the newly-licensed broker who needs a credible web presence, a business number, and lead flow — without a three-month procurement project.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0" y="1620000"/>
            <a:ext cx="5328000" cy="5040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0000" y="187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2000" y="187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500 records / month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0000" y="2170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80000" y="187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2000" y="187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R0.35c / min airtime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80000" y="2170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860000" y="2250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2000" y="2250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1–3 page template website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60000" y="2548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80000" y="2250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2000" y="2250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Email hosting · 5 mailboxes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80000" y="2548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60000" y="2628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2000" y="2628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Microsoft 365 · 1 licence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860000" y="2926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80000" y="2628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2000" y="2628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Digital business card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0000" y="2926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860000" y="3006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2000" y="3006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Company profile (PDF)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860000" y="3304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380000" y="3006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2000" y="3006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1 VoIP landline number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380000" y="3304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860000" y="3384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2000" y="3384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1 business cell number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860000" y="3682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80000" y="3384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2000" y="3384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Organic social media setup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80000" y="3682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860000" y="376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2000" y="376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4 social posts / month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80000" y="376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2000" y="376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Same-day support response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8B6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A1828"/>
                </a:solidFill>
                <a:latin typeface="Calibri"/>
              </a:rPr>
              <a:t>Lead</a:t>
            </a:r>
            <a:r>
              <a:rPr sz="1100" b="1" i="0">
                <a:solidFill>
                  <a:srgbClr val="8B6F50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4A5868"/>
                </a:solidFill>
                <a:latin typeface="Calibri"/>
              </a:rPr>
              <a:t>06 · GOLD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4A5868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4A5868"/>
                </a:solidFill>
                <a:latin typeface="Calibri"/>
              </a:rPr>
              <a:t>GOLD · 06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8B6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8B6F50"/>
                </a:solidFill>
                <a:latin typeface="Calibri"/>
              </a:rPr>
              <a:t>GOLD · ★ RECOMMENDED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000" y="1620000"/>
            <a:ext cx="1368000" cy="180000"/>
          </a:xfrm>
          <a:prstGeom prst="rect">
            <a:avLst/>
          </a:prstGeom>
          <a:solidFill>
            <a:srgbClr val="8B6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000" y="1620000"/>
            <a:ext cx="1368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 spc="200">
                <a:solidFill>
                  <a:srgbClr val="FAF7F2"/>
                </a:solidFill>
                <a:latin typeface="Calibri"/>
              </a:rPr>
              <a:t>★ RECOMMENDED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1944000"/>
            <a:ext cx="360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A1828"/>
                </a:solidFill>
                <a:latin typeface="Georgia"/>
              </a:rPr>
              <a:t>Gold.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" y="2592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800" b="0" i="0">
                <a:solidFill>
                  <a:srgbClr val="8B6F50"/>
                </a:solidFill>
                <a:latin typeface="Georgia"/>
              </a:rPr>
              <a:t>R9 999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3420000"/>
            <a:ext cx="2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250">
                <a:solidFill>
                  <a:srgbClr val="4A5868"/>
                </a:solidFill>
                <a:latin typeface="Calibri"/>
              </a:rPr>
              <a:t>PER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000" y="3816000"/>
            <a:ext cx="34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8B6F50"/>
                </a:solidFill>
                <a:latin typeface="Georgia"/>
              </a:rPr>
              <a:t>"Double the leads, double the output, half the headache."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8000" y="5940000"/>
            <a:ext cx="3420000" cy="0"/>
          </a:xfrm>
          <a:prstGeom prst="line">
            <a:avLst/>
          </a:prstGeom>
          <a:ln w="508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8000" y="6048000"/>
            <a:ext cx="34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 i="0">
                <a:solidFill>
                  <a:srgbClr val="8B6F50"/>
                </a:solidFill>
                <a:latin typeface="Calibri"/>
              </a:rPr>
              <a:t>Best for: </a:t>
            </a:r>
            <a:r>
              <a:rPr sz="1000" b="0" i="0">
                <a:solidFill>
                  <a:srgbClr val="4A5868"/>
                </a:solidFill>
                <a:latin typeface="Calibri"/>
              </a:rPr>
              <a:t>2–5 agent brokerages that need volume without going custom yet. The sweet spot of price vs. capability for most SMB FSPs.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0" y="1620000"/>
            <a:ext cx="5328000" cy="5040000"/>
          </a:xfrm>
          <a:prstGeom prst="rect">
            <a:avLst/>
          </a:prstGeom>
          <a:solidFill>
            <a:srgbClr val="FFFDF9"/>
          </a:solidFill>
          <a:ln w="6350">
            <a:solidFill>
              <a:srgbClr val="E3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0000" y="187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2000" y="187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A1828"/>
                </a:solidFill>
                <a:latin typeface="Calibri"/>
              </a:rPr>
              <a:t>1 000 records / month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60000" y="2170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80000" y="187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2000" y="187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R0.32c / min airtime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80000" y="2170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860000" y="2250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2000" y="2250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3–5 page template website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860000" y="2548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80000" y="2250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2000" y="2250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Email hosting · 10 mailboxes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80000" y="2548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860000" y="2628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2000" y="2628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Microsoft 365 · 2 licences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860000" y="2926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380000" y="2628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2000" y="2628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Digital business card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80000" y="2926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860000" y="3006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2000" y="3006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Company profile (PDF)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860000" y="3304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80000" y="3006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2000" y="3006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1 VoIP landline number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380000" y="3304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60000" y="3384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2000" y="3384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1 business cell number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60000" y="3682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80000" y="3384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42000" y="3384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Organic social media setup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380000" y="3682800"/>
            <a:ext cx="2376000" cy="0"/>
          </a:xfrm>
          <a:prstGeom prst="line">
            <a:avLst/>
          </a:prstGeom>
          <a:ln w="3810">
            <a:solidFill>
              <a:srgbClr val="E3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860000" y="376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2000" y="376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A1828"/>
                </a:solidFill>
                <a:latin typeface="Calibri"/>
              </a:rPr>
              <a:t>8 social posts / month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80000" y="376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B6F50"/>
                </a:solidFill>
                <a:latin typeface="Calibr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2000" y="376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A1828"/>
                </a:solidFill>
                <a:latin typeface="Calibri"/>
              </a:rPr>
              <a:t>4-hour support response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07 · DIAMOND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DIAMOND · 07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DIAMOND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620000"/>
            <a:ext cx="360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F2EEE7"/>
                </a:solidFill>
                <a:latin typeface="Georgia"/>
              </a:rPr>
              <a:t>Diamond.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268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800" b="0" i="0">
                <a:solidFill>
                  <a:srgbClr val="C09A78"/>
                </a:solidFill>
                <a:latin typeface="Georgia"/>
              </a:rPr>
              <a:t>R13 999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3096000"/>
            <a:ext cx="2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250">
                <a:solidFill>
                  <a:srgbClr val="B8C0CC"/>
                </a:solidFill>
                <a:latin typeface="Calibri"/>
              </a:rPr>
              <a:t>PER MONTH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" y="3492000"/>
            <a:ext cx="34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D4B89C"/>
                </a:solidFill>
                <a:latin typeface="Georgia"/>
              </a:rPr>
              <a:t>"Your own brand identity and the telephony muscle to back it."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8000" y="5940000"/>
            <a:ext cx="3420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8000" y="6048000"/>
            <a:ext cx="34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 i="0">
                <a:solidFill>
                  <a:srgbClr val="C09A78"/>
                </a:solidFill>
                <a:latin typeface="Calibri"/>
              </a:rPr>
              <a:t>Best for: </a:t>
            </a:r>
            <a:r>
              <a:rPr sz="1000" b="0" i="0">
                <a:solidFill>
                  <a:srgbClr val="B8C0CC"/>
                </a:solidFill>
                <a:latin typeface="Calibri"/>
              </a:rPr>
              <a:t>5–10 agent brokerages that need their own brand identity and the telephony muscle to run multiple campaigns simultaneously.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0" y="1620000"/>
            <a:ext cx="5328000" cy="5040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0000" y="187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2000" y="187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1 000 records / month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0000" y="2170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80000" y="187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2000" y="187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R0.30c / min airtime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80000" y="2170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860000" y="2250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2000" y="2250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EE7"/>
                </a:solidFill>
                <a:latin typeface="Calibri"/>
              </a:rPr>
              <a:t>5–6 page customised site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60000" y="2548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80000" y="2250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2000" y="2250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Email hosting · 10 mailboxes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80000" y="2548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60000" y="2628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2000" y="2628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EE7"/>
                </a:solidFill>
                <a:latin typeface="Calibri"/>
              </a:rPr>
              <a:t>Microsoft 365 · 5 licences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860000" y="2926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80000" y="2628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2000" y="2628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Digital business card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0000" y="2926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860000" y="3006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2000" y="3006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Company profile (PDF)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860000" y="3304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380000" y="3006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2000" y="3006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EE7"/>
                </a:solidFill>
                <a:latin typeface="Calibri"/>
              </a:rPr>
              <a:t>3 VoIP landline numbers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380000" y="3304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860000" y="3384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2000" y="3384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1 business cell number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860000" y="3682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80000" y="3384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2000" y="3384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Organic social media setup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80000" y="3682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860000" y="376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2000" y="376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10 social posts / month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80000" y="376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2000" y="376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EE7"/>
                </a:solidFill>
                <a:latin typeface="Calibri"/>
              </a:rPr>
              <a:t>2-hour support response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08 · PLATINUM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PLATINUM · 08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PLATINUM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620000"/>
            <a:ext cx="360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F2EEE7"/>
                </a:solidFill>
                <a:latin typeface="Georgia"/>
              </a:rPr>
              <a:t>Platinum.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268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800" b="0" i="0">
                <a:solidFill>
                  <a:srgbClr val="C09A78"/>
                </a:solidFill>
                <a:latin typeface="Georgia"/>
              </a:rPr>
              <a:t>R19 999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3096000"/>
            <a:ext cx="2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250">
                <a:solidFill>
                  <a:srgbClr val="B8C0CC"/>
                </a:solidFill>
                <a:latin typeface="Calibri"/>
              </a:rPr>
              <a:t>PER MONTH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" y="3492000"/>
            <a:ext cx="34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D4B89C"/>
                </a:solidFill>
                <a:latin typeface="Georgia"/>
              </a:rPr>
              <a:t>"Director-level data and a site that sells — built for B2B."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8000" y="5940000"/>
            <a:ext cx="3420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8000" y="6048000"/>
            <a:ext cx="34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 i="0">
                <a:solidFill>
                  <a:srgbClr val="C09A78"/>
                </a:solidFill>
                <a:latin typeface="Calibri"/>
              </a:rPr>
              <a:t>Best for: </a:t>
            </a:r>
            <a:r>
              <a:rPr sz="1000" b="0" i="0">
                <a:solidFill>
                  <a:srgbClr val="B8C0CC"/>
                </a:solidFill>
                <a:latin typeface="Calibri"/>
              </a:rPr>
              <a:t>brokerages targeting business owners and directors, or running policy and product sales online with checkout.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0" y="1620000"/>
            <a:ext cx="5328000" cy="5040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0000" y="187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2000" y="187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EE7"/>
                </a:solidFill>
                <a:latin typeface="Calibri"/>
              </a:rPr>
              <a:t>500 director-level records / mo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0000" y="2170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80000" y="187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2000" y="187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R0.28c / min airtime (lowest)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80000" y="2170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860000" y="2250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2000" y="2250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EE7"/>
                </a:solidFill>
                <a:latin typeface="Calibri"/>
              </a:rPr>
              <a:t>5–7 page custom / e-commerce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60000" y="2548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80000" y="2250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2000" y="2250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Email hosting · 10–20 mailboxes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80000" y="2548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60000" y="2628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2000" y="2628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Microsoft 365 · 10 licences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860000" y="2926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80000" y="2628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2000" y="2628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Digital business card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0000" y="2926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860000" y="3006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2000" y="3006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Company profile (PDF)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860000" y="3304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380000" y="3006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2000" y="3006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3 VoIP landline numbers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380000" y="3304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860000" y="3384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2000" y="3384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1 business cell number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860000" y="3682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80000" y="3384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2000" y="3384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Organic social media setup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80000" y="3682800"/>
            <a:ext cx="2376000" cy="0"/>
          </a:xfrm>
          <a:prstGeom prst="line">
            <a:avLst/>
          </a:prstGeom>
          <a:ln w="381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860000" y="376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2000" y="376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2EEE7"/>
                </a:solidFill>
                <a:latin typeface="Calibri"/>
              </a:rPr>
              <a:t>10 social posts / month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80000" y="3762000"/>
            <a:ext cx="14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09A78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2000" y="3762000"/>
            <a:ext cx="221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EE7"/>
                </a:solidFill>
                <a:latin typeface="Calibri"/>
              </a:rPr>
              <a:t>2-hour VIP support — jump the queue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09 · DECISION GUIDE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DECISION GUIDE · 09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HOW TO 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The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60-second 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520000"/>
            <a:ext cx="86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B8C0CC"/>
                </a:solidFill>
                <a:latin typeface="Calibri"/>
              </a:rPr>
              <a:t>Three questions. One tier.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8000" y="3168000"/>
            <a:ext cx="3024000" cy="3420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000" y="3384000"/>
            <a:ext cx="108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1">
                <a:solidFill>
                  <a:srgbClr val="C09A78"/>
                </a:solidFill>
                <a:latin typeface="Georgia"/>
              </a:rPr>
              <a:t>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000" y="3960000"/>
            <a:ext cx="2592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F2EEE7"/>
                </a:solidFill>
                <a:latin typeface="Calibri"/>
              </a:rPr>
              <a:t>How many agents are on the phones today?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4000" y="4878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4000" y="4896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1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0400" y="4896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SILVER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4000" y="5166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4000" y="5184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2–5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30400" y="5184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GOLD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4000" y="5454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4000" y="5472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5–10 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0400" y="5472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DIAMOND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4000" y="5742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64000" y="5760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10+ agents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0400" y="5760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PLATINUM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16000" y="3168000"/>
            <a:ext cx="3024000" cy="3420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000" y="3384000"/>
            <a:ext cx="108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1">
                <a:solidFill>
                  <a:srgbClr val="C09A78"/>
                </a:solidFill>
                <a:latin typeface="Georgia"/>
              </a:rPr>
              <a:t>ii.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2000" y="3960000"/>
            <a:ext cx="2592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F2EEE7"/>
                </a:solidFill>
                <a:latin typeface="Calibri"/>
              </a:rPr>
              <a:t>Who are you calling?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32000" y="4878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032000" y="4896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Consumers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8400" y="4896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SILVER–DIAMOND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32000" y="5166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032000" y="5184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Directors / B2B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8400" y="5184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PLATINUM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32000" y="5454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032000" y="5472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Mixed 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98400" y="5472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DIAMOND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84000" y="3168000"/>
            <a:ext cx="3024000" cy="3420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00000" y="3384000"/>
            <a:ext cx="108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1">
                <a:solidFill>
                  <a:srgbClr val="C09A78"/>
                </a:solidFill>
                <a:latin typeface="Georgia"/>
              </a:rPr>
              <a:t>iii.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0000" y="3960000"/>
            <a:ext cx="2592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F2EEE7"/>
                </a:solidFill>
                <a:latin typeface="Calibri"/>
              </a:rPr>
              <a:t>Do you need to sell online — not just be online?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200000" y="4878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200000" y="4896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400" y="4896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ANY TIER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200000" y="5166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200000" y="5184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Yes, e-commerce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66400" y="5184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PLATINUM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000" y="5454000"/>
            <a:ext cx="2592000" cy="0"/>
          </a:xfrm>
          <a:prstGeom prst="line">
            <a:avLst/>
          </a:prstGeom>
          <a:ln w="508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200000" y="5472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Maybe later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400" y="5472000"/>
            <a:ext cx="14256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150">
                <a:solidFill>
                  <a:srgbClr val="C09A78"/>
                </a:solidFill>
                <a:latin typeface="Calibri"/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10 · COMPARISON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COMPARISON ·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SIDE BY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What changes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between tiers.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8000" y="2880000"/>
          <a:ext cx="9396000" cy="3779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800000"/>
                <a:gridCol w="1872000"/>
                <a:gridCol w="1872000"/>
                <a:gridCol w="1872000"/>
              </a:tblGrid>
              <a:tr h="343636">
                <a:tc>
                  <a:txBody>
                    <a:bodyPr wrap="square" anchor="ctr"/>
                    <a:lstStyle/>
                    <a:p>
                      <a:r>
                        <a:rPr sz="900" b="1" spc="150">
                          <a:solidFill>
                            <a:srgbClr val="C09A78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900" b="1" spc="150">
                          <a:solidFill>
                            <a:srgbClr val="C09A78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900" b="1" spc="150">
                          <a:solidFill>
                            <a:srgbClr val="FAF7F2"/>
                          </a:solidFill>
                          <a:latin typeface="Calibri"/>
                        </a:rPr>
                        <a:t>GOLD ★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C09A7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900" b="1" spc="150">
                          <a:solidFill>
                            <a:srgbClr val="C09A78"/>
                          </a:solidFill>
                          <a:latin typeface="Calibri"/>
                        </a:rPr>
                        <a:t>DIAMOND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900" b="1" spc="150">
                          <a:solidFill>
                            <a:srgbClr val="C09A78"/>
                          </a:solidFill>
                          <a:latin typeface="Calibri"/>
                        </a:rPr>
                        <a:t>PLATINUM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Price / month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R6 999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R9 999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R13 999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R19 999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Records / month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1 000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1 000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500 Director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Airtime / min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R0.35c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R0.32c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R0.30c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R0.28c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Website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1–3 pg template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3–5 pg template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5–6 pg custom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5–7 pg / e-commerce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Email mailboxes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10–20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Microsoft 365 licences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VoIP landlines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Business cell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Social posts / month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43636"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B8C0CC"/>
                          </a:solidFill>
                          <a:latin typeface="Calibri"/>
                        </a:rPr>
                        <a:t>Support response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Same day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 b="1">
                          <a:solidFill>
                            <a:srgbClr val="D4B89C"/>
                          </a:solidFill>
                          <a:latin typeface="Calibri"/>
                        </a:rPr>
                        <a:t>4 hour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F2E3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2 hour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r>
                        <a:rPr sz="1050">
                          <a:solidFill>
                            <a:srgbClr val="F2EEE7"/>
                          </a:solidFill>
                          <a:latin typeface="Calibri"/>
                        </a:rPr>
                        <a:t>2 hour VIP</a:t>
                      </a:r>
                    </a:p>
                  </a:txBody>
                  <a:tcPr marL="108000" marR="108000" marT="50400" marB="504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11 · OPERATIONAL ADD-ONS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OPERATIONAL ADD-ONS · 11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BEYOND THE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When you outgrow the box —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plug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520000"/>
            <a:ext cx="86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B8C0CC"/>
                </a:solidFill>
                <a:latin typeface="Calibri"/>
              </a:rPr>
              <a:t>Elevate is the subscription. These are the accelerators you bolt on as the brokerage scales.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8000" y="3168000"/>
            <a:ext cx="3024000" cy="100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000" y="3384000"/>
            <a:ext cx="19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EEE7"/>
                </a:solidFill>
                <a:latin typeface="Calibri"/>
              </a:rPr>
              <a:t>Duplicate Checker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00" y="3636000"/>
            <a:ext cx="194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593A4"/>
                </a:solidFill>
                <a:latin typeface="Calibri"/>
              </a:rPr>
              <a:t>Per import — clean lists before dialling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3492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C09A78"/>
                </a:solidFill>
                <a:latin typeface="Georgia"/>
              </a:rPr>
              <a:t>R750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16000" y="3168000"/>
            <a:ext cx="3024000" cy="100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96000" y="3384000"/>
            <a:ext cx="19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EEE7"/>
                </a:solidFill>
                <a:latin typeface="Calibri"/>
              </a:rPr>
              <a:t>Number Rotation &amp; Anti-Spam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6000" y="3636000"/>
            <a:ext cx="194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593A4"/>
                </a:solidFill>
                <a:latin typeface="Calibri"/>
              </a:rPr>
              <a:t>Save numbers from spam flagging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2000" y="3492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C09A78"/>
                </a:solidFill>
                <a:latin typeface="Georgia"/>
              </a:rPr>
              <a:t>R1 500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84000" y="3168000"/>
            <a:ext cx="3024000" cy="100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64000" y="3384000"/>
            <a:ext cx="19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EEE7"/>
                </a:solidFill>
                <a:latin typeface="Calibri"/>
              </a:rPr>
              <a:t>Scripts &amp; Training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4000" y="3636000"/>
            <a:ext cx="194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593A4"/>
                </a:solidFill>
                <a:latin typeface="Calibri"/>
              </a:rPr>
              <a:t>Compliance-ready call scripts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0000" y="3492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C09A78"/>
                </a:solidFill>
                <a:latin typeface="Georgia"/>
              </a:rPr>
              <a:t>R650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8000" y="4320000"/>
            <a:ext cx="3024000" cy="100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000" y="4536000"/>
            <a:ext cx="19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EEE7"/>
                </a:solidFill>
                <a:latin typeface="Calibri"/>
              </a:rPr>
              <a:t>Vici Dial CRM Setup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000" y="4788000"/>
            <a:ext cx="194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593A4"/>
                </a:solidFill>
                <a:latin typeface="Calibri"/>
              </a:rPr>
              <a:t>Campaigns · dispositions · users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4000" y="4644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C09A78"/>
                </a:solidFill>
                <a:latin typeface="Georgia"/>
              </a:rPr>
              <a:t>Quoted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6000" y="4320000"/>
            <a:ext cx="3024000" cy="100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96000" y="4536000"/>
            <a:ext cx="19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EEE7"/>
                </a:solidFill>
                <a:latin typeface="Calibri"/>
              </a:rPr>
              <a:t>Admin / IT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6000" y="4788000"/>
            <a:ext cx="194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593A4"/>
                </a:solidFill>
                <a:latin typeface="Calibri"/>
              </a:rPr>
              <a:t>Monthly retainer · same-day 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32000" y="4644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C09A78"/>
                </a:solidFill>
                <a:latin typeface="Georgia"/>
              </a:rPr>
              <a:t>R3 000 / 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84000" y="4320000"/>
            <a:ext cx="3024000" cy="100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4000" y="4536000"/>
            <a:ext cx="19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EEE7"/>
                </a:solidFill>
                <a:latin typeface="Calibri"/>
              </a:rPr>
              <a:t>Hourly Consulting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000" y="4788000"/>
            <a:ext cx="194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593A4"/>
                </a:solidFill>
                <a:latin typeface="Calibri"/>
              </a:rPr>
              <a:t>Agent &amp; admin coaching on tap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0000" y="4644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C09A78"/>
                </a:solidFill>
                <a:latin typeface="Georgia"/>
              </a:rPr>
              <a:t>R650 / hr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8000" y="5472000"/>
            <a:ext cx="3024000" cy="100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8000" y="5688000"/>
            <a:ext cx="19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EEE7"/>
                </a:solidFill>
                <a:latin typeface="Calibri"/>
              </a:rPr>
              <a:t>Half-Day Training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8000" y="5940000"/>
            <a:ext cx="194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593A4"/>
                </a:solidFill>
                <a:latin typeface="Calibri"/>
              </a:rPr>
              <a:t>Up to 5 admins per session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4000" y="5796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C09A78"/>
                </a:solidFill>
                <a:latin typeface="Georgia"/>
              </a:rPr>
              <a:t>R8 000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16000" y="5472000"/>
            <a:ext cx="3024000" cy="100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96000" y="5688000"/>
            <a:ext cx="19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EEE7"/>
                </a:solidFill>
                <a:latin typeface="Calibri"/>
              </a:rPr>
              <a:t>Full-Day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96000" y="5940000"/>
            <a:ext cx="194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593A4"/>
                </a:solidFill>
                <a:latin typeface="Calibri"/>
              </a:rPr>
              <a:t>Up to 5 admins · deep dive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32000" y="5796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C09A78"/>
                </a:solidFill>
                <a:latin typeface="Georgia"/>
              </a:rPr>
              <a:t>R12 000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84000" y="5472000"/>
            <a:ext cx="3024000" cy="100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64000" y="5688000"/>
            <a:ext cx="19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EEE7"/>
                </a:solidFill>
                <a:latin typeface="Calibri"/>
              </a:rPr>
              <a:t>Recruitment Support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4000" y="5940000"/>
            <a:ext cx="194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593A4"/>
                </a:solidFill>
                <a:latin typeface="Calibri"/>
              </a:rPr>
              <a:t>Per role · sourcing &amp; screening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000" y="5796000"/>
            <a:ext cx="864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C09A78"/>
                </a:solidFill>
                <a:latin typeface="Georgia"/>
              </a:rPr>
              <a:t>Quoted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12 · THE MATHS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THE MATHS · 12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THE MATHS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DIY costs more —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and gives you six suppliers.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8000" y="2808000"/>
          <a:ext cx="9396000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0000"/>
                <a:gridCol w="2916000"/>
              </a:tblGrid>
              <a:tr h="360000">
                <a:tc>
                  <a:txBody>
                    <a:bodyPr anchor="ctr"/>
                    <a:lstStyle/>
                    <a:p>
                      <a:r>
                        <a:rPr sz="900" b="1" spc="180">
                          <a:solidFill>
                            <a:srgbClr val="C09A78"/>
                          </a:solidFill>
                          <a:latin typeface="Calibri"/>
                        </a:rPr>
                        <a:t>LINE ITEM (BUILD IT YOURSELF, 5-AGENT BROKERAGE)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sz="900" b="1" spc="180">
                          <a:solidFill>
                            <a:srgbClr val="C09A78"/>
                          </a:solidFill>
                          <a:latin typeface="Calibri"/>
                        </a:rPr>
                        <a:t>REALISTIC MONTHLY COST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60000">
                <a:tc>
                  <a:txBody>
                    <a:bodyPr anchor="ctr"/>
                    <a:lstStyle/>
                    <a:p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Domain + 5-page website (freelancer)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R1 500 – R3 500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60000">
                <a:tc>
                  <a:txBody>
                    <a:bodyPr anchor="ctr"/>
                    <a:lstStyle/>
                    <a:p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Email hosting + Microsoft 365 (5 seats)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R1 200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60000">
                <a:tc>
                  <a:txBody>
                    <a:bodyPr anchor="ctr"/>
                    <a:lstStyle/>
                    <a:p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VoIP landlines (3)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R900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60000">
                <a:tc>
                  <a:txBody>
                    <a:bodyPr anchor="ctr"/>
                    <a:lstStyle/>
                    <a:p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Part-time social media manager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R3 500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60000">
                <a:tc>
                  <a:txBody>
                    <a:bodyPr anchor="ctr"/>
                    <a:lstStyle/>
                    <a:p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Lead data (1 000 records)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R3 000+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60000">
                <a:tc>
                  <a:txBody>
                    <a:bodyPr anchor="ctr"/>
                    <a:lstStyle/>
                    <a:p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Airtime allocation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sz="1100">
                          <a:solidFill>
                            <a:srgbClr val="F2EEE7"/>
                          </a:solidFill>
                          <a:latin typeface="Calibri"/>
                        </a:rPr>
                        <a:t>R1 500 – R2 500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142A42"/>
                    </a:solidFill>
                  </a:tcPr>
                </a:tc>
              </a:tr>
              <a:tr h="360000">
                <a:tc>
                  <a:txBody>
                    <a:bodyPr anchor="ctr"/>
                    <a:lstStyle/>
                    <a:p>
                      <a:r>
                        <a:rPr sz="1100" b="1">
                          <a:solidFill>
                            <a:srgbClr val="E5A2A2"/>
                          </a:solidFill>
                          <a:latin typeface="Calibri"/>
                        </a:rPr>
                        <a:t>DIY total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2A1F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sz="1100" b="1">
                          <a:solidFill>
                            <a:srgbClr val="E5A2A2"/>
                          </a:solidFill>
                          <a:latin typeface="Calibri"/>
                        </a:rPr>
                        <a:t>R11 600 – R14 600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2A1F22"/>
                    </a:solidFill>
                  </a:tcPr>
                </a:tc>
              </a:tr>
              <a:tr h="360000">
                <a:tc>
                  <a:txBody>
                    <a:bodyPr anchor="ctr"/>
                    <a:lstStyle/>
                    <a:p>
                      <a:r>
                        <a:rPr sz="1200" b="1">
                          <a:solidFill>
                            <a:srgbClr val="D4B89C"/>
                          </a:solidFill>
                          <a:latin typeface="Calibri"/>
                        </a:rPr>
                        <a:t>Diamond — everything, one invoice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242C3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sz="1200" b="1">
                          <a:solidFill>
                            <a:srgbClr val="D4B89C"/>
                          </a:solidFill>
                          <a:latin typeface="Calibri"/>
                        </a:rPr>
                        <a:t>R13 999</a:t>
                      </a:r>
                    </a:p>
                  </a:txBody>
                  <a:tcPr marL="180000" marR="180000" marT="72000" marB="72000">
                    <a:lnL w="6350">
                      <a:solidFill>
                        <a:srgbClr val="20304A"/>
                      </a:solidFill>
                    </a:lnL>
                    <a:lnR w="6350">
                      <a:solidFill>
                        <a:srgbClr val="20304A"/>
                      </a:solidFill>
                    </a:lnR>
                    <a:lnT w="6350">
                      <a:solidFill>
                        <a:srgbClr val="20304A"/>
                      </a:solidFill>
                    </a:lnT>
                    <a:lnB w="6350">
                      <a:solidFill>
                        <a:srgbClr val="20304A"/>
                      </a:solidFill>
                    </a:lnB>
                    <a:solidFill>
                      <a:srgbClr val="242C3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8000" y="6300000"/>
            <a:ext cx="9396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B8C0CC"/>
                </a:solidFill>
                <a:latin typeface="Calibri"/>
              </a:rPr>
              <a:t>…and DIY gives you </a:t>
            </a:r>
            <a:r>
              <a:rPr sz="1050" b="1" i="0">
                <a:solidFill>
                  <a:srgbClr val="F2EEE7"/>
                </a:solidFill>
                <a:latin typeface="Calibri"/>
              </a:rPr>
              <a:t>six suppliers, six invoices, six support queues</a:t>
            </a:r>
            <a:r>
              <a:rPr sz="1050" b="0" i="0">
                <a:solidFill>
                  <a:srgbClr val="B8C0CC"/>
                </a:solidFill>
                <a:latin typeface="Calibri"/>
              </a:rPr>
              <a:t>. Elevate gives you one — at the same price as the middle of the DIY range.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13 · COMPLIANCE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COMPLIANCE · 13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POPIA &amp; compliance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built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520000"/>
            <a:ext cx="86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B8C0CC"/>
                </a:solidFill>
                <a:latin typeface="Calibri"/>
              </a:rPr>
              <a:t>Every Elevate package ships with the compliance scaffolding small FSPs typically forget to set up. You stop being one DPA complaint away from a problem.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8000" y="3600000"/>
            <a:ext cx="4608000" cy="136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4000" y="3816000"/>
            <a:ext cx="432000" cy="432000"/>
          </a:xfrm>
          <a:prstGeom prst="ellipse">
            <a:avLst/>
          </a:prstGeom>
          <a:solidFill>
            <a:srgbClr val="1F2E3F"/>
          </a:solidFill>
          <a:ln w="6350">
            <a:solidFill>
              <a:srgbClr val="C0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000" y="3816000"/>
            <a:ext cx="43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C09A78"/>
                </a:solidFill>
                <a:latin typeface="Georgia"/>
              </a:rPr>
              <a:t>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3816000"/>
            <a:ext cx="36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4B89C"/>
                </a:solidFill>
                <a:latin typeface="Calibri"/>
              </a:rPr>
              <a:t>Compliant lead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0000" y="4104000"/>
            <a:ext cx="360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Records sourced under POPIA. Opt-out workflow handled by us — your agents never touch a non-compliant list.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0" y="3600000"/>
            <a:ext cx="4608000" cy="136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16000" y="3816000"/>
            <a:ext cx="432000" cy="432000"/>
          </a:xfrm>
          <a:prstGeom prst="ellipse">
            <a:avLst/>
          </a:prstGeom>
          <a:solidFill>
            <a:srgbClr val="1F2E3F"/>
          </a:solidFill>
          <a:ln w="6350">
            <a:solidFill>
              <a:srgbClr val="C0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16000" y="3816000"/>
            <a:ext cx="43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C09A78"/>
                </a:solidFill>
                <a:latin typeface="Georgia"/>
              </a:rPr>
              <a:t>ii.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2000" y="3816000"/>
            <a:ext cx="36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4B89C"/>
                </a:solidFill>
                <a:latin typeface="Calibri"/>
              </a:rPr>
              <a:t>Call recording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000" y="4104000"/>
            <a:ext cx="360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Business numbers and VoIP infrastructure give you a defensible record of every consent on every call.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8000" y="5112000"/>
            <a:ext cx="4608000" cy="136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4000" y="5328000"/>
            <a:ext cx="432000" cy="432000"/>
          </a:xfrm>
          <a:prstGeom prst="ellipse">
            <a:avLst/>
          </a:prstGeom>
          <a:solidFill>
            <a:srgbClr val="1F2E3F"/>
          </a:solidFill>
          <a:ln w="6350">
            <a:solidFill>
              <a:srgbClr val="C0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000" y="5328000"/>
            <a:ext cx="43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C09A78"/>
                </a:solidFill>
                <a:latin typeface="Georgia"/>
              </a:rPr>
              <a:t>iii.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0000" y="5328000"/>
            <a:ext cx="36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4B89C"/>
                </a:solidFill>
                <a:latin typeface="Calibri"/>
              </a:rPr>
              <a:t>Branded email identity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0000" y="5616000"/>
            <a:ext cx="360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No more Gmail. A proper @yourbrokerage.co.za address is the foundation of a legitimate Information Officer footprint.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00000" y="5112000"/>
            <a:ext cx="4608000" cy="1368000"/>
          </a:xfrm>
          <a:prstGeom prst="rect">
            <a:avLst/>
          </a:prstGeom>
          <a:solidFill>
            <a:srgbClr val="142A42"/>
          </a:solidFill>
          <a:ln w="6350">
            <a:solidFill>
              <a:srgbClr val="2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16000" y="5328000"/>
            <a:ext cx="432000" cy="432000"/>
          </a:xfrm>
          <a:prstGeom prst="ellipse">
            <a:avLst/>
          </a:prstGeom>
          <a:solidFill>
            <a:srgbClr val="1F2E3F"/>
          </a:solidFill>
          <a:ln w="6350">
            <a:solidFill>
              <a:srgbClr val="C0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16000" y="5328000"/>
            <a:ext cx="43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C09A78"/>
                </a:solidFill>
                <a:latin typeface="Georgia"/>
              </a:rPr>
              <a:t>iv.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2000" y="5328000"/>
            <a:ext cx="360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4B89C"/>
                </a:solidFill>
                <a:latin typeface="Calibri"/>
              </a:rPr>
              <a:t>Consistent disclosure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2000" y="5616000"/>
            <a:ext cx="360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B8C0CC"/>
                </a:solidFill>
                <a:latin typeface="Calibri"/>
              </a:rPr>
              <a:t>Digital business card and company profile PDF mean every client sees the same regulator-ready disclosure.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14 · GROWTH PATH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GROWTH PATH · 14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THE GROWTH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Silver to Platinum —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at your pace.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" y="2520000"/>
            <a:ext cx="86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B8C0CC"/>
                </a:solidFill>
                <a:latin typeface="Calibri"/>
              </a:rPr>
              <a:t>A realistic upgrade path for a small brokerage. You're not locked in — move up or down as the team flexes.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6000" y="4248000"/>
            <a:ext cx="7020000" cy="0"/>
          </a:xfrm>
          <a:prstGeom prst="line">
            <a:avLst/>
          </a:prstGeom>
          <a:ln w="1524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64000" y="4176000"/>
            <a:ext cx="144000" cy="144000"/>
          </a:xfrm>
          <a:prstGeom prst="ellipse">
            <a:avLst/>
          </a:prstGeom>
          <a:solidFill>
            <a:srgbClr val="C09A78"/>
          </a:solidFill>
          <a:ln w="25400">
            <a:solidFill>
              <a:srgbClr val="0A1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6000" y="4536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200">
                <a:solidFill>
                  <a:srgbClr val="C09A78"/>
                </a:solidFill>
                <a:latin typeface="Calibri"/>
              </a:rPr>
              <a:t>MONTH 1–3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216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F2EEE7"/>
                </a:solidFill>
                <a:latin typeface="Georgia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000" y="5400000"/>
            <a:ext cx="216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Get listed. Get found. Look legitimate from day one.</a:t>
            </a:r>
          </a:p>
        </p:txBody>
      </p:sp>
      <p:sp>
        <p:nvSpPr>
          <p:cNvPr id="19" name="Oval 18"/>
          <p:cNvSpPr/>
          <p:nvPr/>
        </p:nvSpPr>
        <p:spPr>
          <a:xfrm>
            <a:off x="4104000" y="4176000"/>
            <a:ext cx="144000" cy="144000"/>
          </a:xfrm>
          <a:prstGeom prst="ellipse">
            <a:avLst/>
          </a:prstGeom>
          <a:solidFill>
            <a:srgbClr val="C09A78"/>
          </a:solidFill>
          <a:ln w="25400">
            <a:solidFill>
              <a:srgbClr val="0A1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6000" y="4536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200">
                <a:solidFill>
                  <a:srgbClr val="C09A78"/>
                </a:solidFill>
                <a:latin typeface="Calibri"/>
              </a:rPr>
              <a:t>MONTH 4–9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4824000"/>
            <a:ext cx="216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F2EEE7"/>
                </a:solidFill>
                <a:latin typeface="Georgia"/>
              </a:rPr>
              <a:t>Gold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000" y="5400000"/>
            <a:ext cx="216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Hire 2–5 agents. Double the leads. Step up output.</a:t>
            </a:r>
          </a:p>
        </p:txBody>
      </p:sp>
      <p:sp>
        <p:nvSpPr>
          <p:cNvPr id="23" name="Oval 22"/>
          <p:cNvSpPr/>
          <p:nvPr/>
        </p:nvSpPr>
        <p:spPr>
          <a:xfrm>
            <a:off x="6444000" y="4176000"/>
            <a:ext cx="144000" cy="144000"/>
          </a:xfrm>
          <a:prstGeom prst="ellipse">
            <a:avLst/>
          </a:prstGeom>
          <a:solidFill>
            <a:srgbClr val="C09A78"/>
          </a:solidFill>
          <a:ln w="25400">
            <a:solidFill>
              <a:srgbClr val="0A1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36000" y="4536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200">
                <a:solidFill>
                  <a:srgbClr val="C09A78"/>
                </a:solidFill>
                <a:latin typeface="Calibri"/>
              </a:rPr>
              <a:t>MONTH 10–18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6000" y="4824000"/>
            <a:ext cx="216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F2EEE7"/>
                </a:solidFill>
                <a:latin typeface="Georgia"/>
              </a:rPr>
              <a:t>Diamond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36000" y="5400000"/>
            <a:ext cx="216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Customised brand. Multi-line call operations.</a:t>
            </a:r>
          </a:p>
        </p:txBody>
      </p:sp>
      <p:sp>
        <p:nvSpPr>
          <p:cNvPr id="27" name="Oval 26"/>
          <p:cNvSpPr/>
          <p:nvPr/>
        </p:nvSpPr>
        <p:spPr>
          <a:xfrm>
            <a:off x="8784000" y="4176000"/>
            <a:ext cx="144000" cy="144000"/>
          </a:xfrm>
          <a:prstGeom prst="ellipse">
            <a:avLst/>
          </a:prstGeom>
          <a:solidFill>
            <a:srgbClr val="C09A78"/>
          </a:solidFill>
          <a:ln w="25400">
            <a:solidFill>
              <a:srgbClr val="0A1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6000" y="4536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200">
                <a:solidFill>
                  <a:srgbClr val="C09A78"/>
                </a:solidFill>
                <a:latin typeface="Calibri"/>
              </a:rPr>
              <a:t>MONTH 18+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6000" y="4824000"/>
            <a:ext cx="216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F2EEE7"/>
                </a:solidFill>
                <a:latin typeface="Georgia"/>
              </a:rPr>
              <a:t>Platinum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6000" y="5400000"/>
            <a:ext cx="216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B8C0CC"/>
                </a:solidFill>
                <a:latin typeface="Calibri"/>
              </a:rPr>
              <a:t>Move upmarket — director sales, online checkout.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0A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8000" y="486000"/>
            <a:ext cx="216000" cy="216000"/>
          </a:xfrm>
          <a:prstGeom prst="ellipse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8000" y="489600"/>
            <a:ext cx="21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AF7F2"/>
                </a:solidFill>
                <a:latin typeface="Georgia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000" y="522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EEE7"/>
                </a:solidFill>
                <a:latin typeface="Calibri"/>
              </a:rPr>
              <a:t>Lead</a:t>
            </a:r>
            <a:r>
              <a:rPr sz="1100" b="1" i="0">
                <a:solidFill>
                  <a:srgbClr val="C09A78"/>
                </a:solidFill>
                <a:latin typeface="Calibri"/>
              </a:rPr>
              <a:t>Gurus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0" y="522000"/>
            <a:ext cx="2124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50">
                <a:solidFill>
                  <a:srgbClr val="8593A4"/>
                </a:solidFill>
                <a:latin typeface="Calibri"/>
              </a:rPr>
              <a:t>15 · NEXT STEPS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8000" y="7020000"/>
            <a:ext cx="9396000" cy="0"/>
          </a:xfrm>
          <a:prstGeom prst="line">
            <a:avLst/>
          </a:prstGeom>
          <a:ln w="6350">
            <a:solidFill>
              <a:srgbClr val="2A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8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LEADGURUS ELEVATE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4000" y="7092000"/>
            <a:ext cx="46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80">
                <a:solidFill>
                  <a:srgbClr val="8593A4"/>
                </a:solidFill>
                <a:latin typeface="Calibri"/>
              </a:rPr>
              <a:t>NEXT STEPS · 15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8000" y="1231200"/>
            <a:ext cx="216000" cy="0"/>
          </a:xfrm>
          <a:prstGeom prst="line">
            <a:avLst/>
          </a:prstGeom>
          <a:ln w="12700">
            <a:solidFill>
              <a:srgbClr val="C09A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0000" y="1152000"/>
            <a:ext cx="72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50">
                <a:solidFill>
                  <a:srgbClr val="C09A78"/>
                </a:solidFill>
                <a:latin typeface="Calibri"/>
              </a:rPr>
              <a:t>NEXT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1440000"/>
            <a:ext cx="936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2EEE7"/>
                </a:solidFill>
                <a:latin typeface="Georgia"/>
              </a:rPr>
              <a:t>Pick a tier. </a:t>
            </a:r>
            <a:r>
              <a:rPr sz="2800" b="0" i="1">
                <a:solidFill>
                  <a:srgbClr val="C09A78"/>
                </a:solidFill>
                <a:latin typeface="Georgia"/>
              </a:rPr>
              <a:t>Be live in 14 days.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8000" y="2880000"/>
            <a:ext cx="9396000" cy="3240000"/>
          </a:xfrm>
          <a:prstGeom prst="rect">
            <a:avLst/>
          </a:prstGeom>
          <a:solidFill>
            <a:srgbClr val="C09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8000" y="2880000"/>
            <a:ext cx="9396000" cy="3240000"/>
          </a:xfrm>
          <a:prstGeom prst="rect">
            <a:avLst/>
          </a:prstGeom>
          <a:noFill/>
          <a:ln w="12700">
            <a:solidFill>
              <a:srgbClr val="8B6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3312000"/>
            <a:ext cx="828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i="0">
                <a:solidFill>
                  <a:srgbClr val="FAF7F2"/>
                </a:solidFill>
                <a:latin typeface="Georgia"/>
              </a:rPr>
              <a:t>Book your 15-minute </a:t>
            </a:r>
            <a:r>
              <a:rPr sz="2800" b="0" i="1">
                <a:solidFill>
                  <a:srgbClr val="0A1828"/>
                </a:solidFill>
                <a:latin typeface="Georgia"/>
              </a:rPr>
              <a:t>discovery call.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4176000"/>
            <a:ext cx="828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FAF7F2"/>
                </a:solidFill>
                <a:latin typeface="Calibri"/>
              </a:rPr>
              <a:t>On the call we'll recommend a tier, scope your onboarding, and have your brokerage operational within 7–14 working days.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000" y="5112000"/>
            <a:ext cx="8352000" cy="0"/>
          </a:xfrm>
          <a:prstGeom prst="line">
            <a:avLst/>
          </a:prstGeom>
          <a:ln w="6350">
            <a:solidFill>
              <a:srgbClr val="E9D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52000" y="5328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FAF7F2"/>
                </a:solidFill>
                <a:latin typeface="Calibri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000" y="5544000"/>
            <a:ext cx="28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AF7F2"/>
                </a:solidFill>
                <a:latin typeface="Calibri"/>
              </a:rPr>
              <a:t>+27 [number]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2000" y="5328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FAF7F2"/>
                </a:solidFill>
                <a:latin typeface="Calibri"/>
              </a:rPr>
              <a:t>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2000" y="5544000"/>
            <a:ext cx="28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AF7F2"/>
                </a:solidFill>
                <a:latin typeface="Calibri"/>
              </a:rPr>
              <a:t>info@leadgurus.co.za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2000" y="5328000"/>
            <a:ext cx="216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FAF7F2"/>
                </a:solidFill>
                <a:latin typeface="Calibri"/>
              </a:rPr>
              <a:t>WEB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2000" y="5544000"/>
            <a:ext cx="28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AF7F2"/>
                </a:solidFill>
                <a:latin typeface="Calibri"/>
              </a:rPr>
              <a:t>leadgurus.co.za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" y="6408000"/>
            <a:ext cx="939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 spc="250">
                <a:solidFill>
                  <a:srgbClr val="8593A4"/>
                </a:solidFill>
                <a:latin typeface="Calibri"/>
              </a:rPr>
              <a:t>SILVER · </a:t>
            </a:r>
            <a:r>
              <a:rPr sz="950" b="1" i="0" spc="250">
                <a:solidFill>
                  <a:srgbClr val="C09A78"/>
                </a:solidFill>
                <a:latin typeface="Calibri"/>
              </a:rPr>
              <a:t>GOLD ★</a:t>
            </a:r>
            <a:r>
              <a:rPr sz="950" b="0" i="0" spc="250">
                <a:solidFill>
                  <a:srgbClr val="8593A4"/>
                </a:solidFill>
                <a:latin typeface="Calibri"/>
              </a:rPr>
              <a:t> · DIAMOND · PLATINUM    —    CHOOSE YOUR TIER.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